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76" r:id="rId5"/>
    <p:sldId id="261" r:id="rId6"/>
    <p:sldId id="260" r:id="rId7"/>
    <p:sldId id="270" r:id="rId8"/>
    <p:sldId id="275" r:id="rId9"/>
    <p:sldId id="266" r:id="rId10"/>
    <p:sldId id="273" r:id="rId11"/>
    <p:sldId id="272" r:id="rId1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9F9F9"/>
    <a:srgbClr val="F6DAF0"/>
    <a:srgbClr val="F8E0F3"/>
    <a:srgbClr val="D23EB2"/>
    <a:srgbClr val="9751CB"/>
    <a:srgbClr val="2E471D"/>
    <a:srgbClr val="3D8140"/>
    <a:srgbClr val="24AFB6"/>
    <a:srgbClr val="2DA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CFEF5D-F1C8-46B3-BF8F-7BE059A940ED}" v="4" dt="2020-11-22T15:58:51.131"/>
    <p1510:client id="{54B900CD-F9C7-7464-AC1B-D43926BB2464}" v="209" dt="2020-11-22T15:27:41.635"/>
    <p1510:client id="{5E200984-D7A0-450E-B801-086317081197}" v="2241" dt="2020-11-22T16:48:55.138"/>
    <p1510:client id="{6A89D34C-CE1C-E253-EF56-19681E9EC01A}" v="1" dt="2020-11-22T15:38:54.862"/>
    <p1510:client id="{70F65D65-B56D-68F9-6F3B-B2F8B4AC18A3}" v="5" dt="2020-11-22T16:42:07.635"/>
    <p1510:client id="{760D87E1-13F8-F6D6-3259-2D4E786DF8A7}" v="372" dt="2020-11-22T11:34:01.436"/>
    <p1510:client id="{8D1515D4-886B-29DC-4BC9-384B26ED40D9}" v="16" dt="2020-11-21T16:57:33.360"/>
    <p1510:client id="{C5A29134-7C5D-144D-C8B5-E8E5BA598DC8}" v="3" dt="2020-11-21T17:38:46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7B18A-0DB4-4885-B9D8-6BEFA17F58CD}" type="datetimeFigureOut">
              <a:rPr lang="en-US"/>
              <a:t>11/22/2020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F67BB-BFF1-43DB-968B-0EF59C8CAC4A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0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Meom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on web-sovelluskehitysfirma joka tarjoaa asiakkailleen apuja digitaaliseen tuotekehitykseen ja jopa liiketoimintaan. He rakentavat asiakkaan tuoteidean toimivaksi digitaaliseksi tuotteeksi. </a:t>
            </a:r>
            <a:r>
              <a:rPr lang="fi-FI"/>
              <a:t>Yritys on perustettu vuonna 2012 ja siellä työskentelee yli 20 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designin, ohjelmisto- ja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front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end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-kehityksen ja markkinoinnin asiantuntijaa.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Meomilla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halutaan selkeästi painottaa sitä että heillä on rento työskentelyilmapiiri ja rehellinen asenne. Heidän erikoisalaansa ovat kartan käyttöön ja sosiaalisiin yhteyksiin perustuvat sovellukset. </a:t>
            </a:r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F67BB-BFF1-43DB-968B-0EF59C8CAC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3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err="1"/>
              <a:t>Meom</a:t>
            </a:r>
            <a:r>
              <a:rPr lang="fi-FI"/>
              <a:t> on luonut </a:t>
            </a:r>
            <a:r>
              <a:rPr lang="fi-FI" sz="1800">
                <a:solidFill>
                  <a:srgbClr val="4D515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muun muassa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sovelluksen nimeltä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Brella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mikä kehitettiin verkostoitumisen ja tapaamisten järjestämisen helpottamiseksi. </a:t>
            </a:r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F67BB-BFF1-43DB-968B-0EF59C8CAC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54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i-FI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fi-FI" sz="18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Enegia</a:t>
            </a:r>
            <a:r>
              <a:rPr lang="fi-FI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energiajohtamisen ja energia tukkumarkkina-palveluiden asiantuntija.)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Meomin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tiimi suunnitteli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Enegian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sivuille uuden konseptin ja designin. Tärkeimpiin muutoksiin kuului hakukoneoptimointi, minkä johdosta sivujen kävijämäärät ovat kasvaneet.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Eilakaislalle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Meom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loi rekrytointityökalun nimeltä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Weople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jonka avulla yritykset voi luoda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työpaikkailmotuksia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tehokkaammin. Tarkoituksena oli tehdä työnhausta mahdollisimman simppeliä. </a:t>
            </a:r>
            <a:r>
              <a:rPr lang="fi-FI" sz="18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Forenomille</a:t>
            </a:r>
            <a:r>
              <a:rPr lang="fi-FI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i-FI" sz="2800" b="0" i="0">
                <a:solidFill>
                  <a:srgbClr val="454545"/>
                </a:solidFill>
                <a:effectLst/>
                <a:latin typeface="MEOM"/>
                <a:ea typeface="Times New Roman" panose="02020603050405020304" pitchFamily="18" charset="0"/>
                <a:cs typeface="Times New Roman" panose="02020603050405020304" pitchFamily="18" charset="0"/>
              </a:rPr>
              <a:t>he antoivat apuja </a:t>
            </a:r>
            <a:r>
              <a:rPr lang="fi-FI" sz="2800" b="0" i="0">
                <a:solidFill>
                  <a:srgbClr val="454545"/>
                </a:solidFill>
                <a:effectLst/>
                <a:latin typeface="MEOM"/>
              </a:rPr>
              <a:t>myynnin ja markkinoinnin prosesseihin.</a:t>
            </a:r>
            <a:endParaRPr lang="fi-FI" sz="18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F67BB-BFF1-43DB-968B-0EF59C8CAC4A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02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Calibri"/>
              </a:rPr>
              <a:t>Fraktio</a:t>
            </a:r>
            <a:r>
              <a:rPr lang="en-US">
                <a:cs typeface="Calibri"/>
              </a:rPr>
              <a:t> on </a:t>
            </a:r>
            <a:r>
              <a:rPr lang="en-US" err="1">
                <a:cs typeface="Calibri"/>
              </a:rPr>
              <a:t>websovelluskehitys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yritys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jonka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toimipiste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lyötyy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kampista</a:t>
            </a:r>
            <a:r>
              <a:rPr lang="en-US">
                <a:cs typeface="Calibri"/>
              </a:rPr>
              <a:t>, se </a:t>
            </a:r>
            <a:r>
              <a:rPr lang="en-US" err="1">
                <a:cs typeface="Calibri"/>
              </a:rPr>
              <a:t>tekee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mobiilisoftia</a:t>
            </a:r>
            <a:r>
              <a:rPr lang="en-US">
                <a:cs typeface="Calibri"/>
              </a:rPr>
              <a:t> ja </a:t>
            </a:r>
            <a:r>
              <a:rPr lang="en-US" err="1">
                <a:cs typeface="Calibri"/>
              </a:rPr>
              <a:t>verkkopalveluita</a:t>
            </a:r>
            <a:r>
              <a:rPr lang="en-US">
                <a:cs typeface="Calibri"/>
              </a:rPr>
              <a:t>. Se on </a:t>
            </a:r>
            <a:r>
              <a:rPr lang="en-US" err="1">
                <a:cs typeface="Calibri"/>
              </a:rPr>
              <a:t>myös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vuonna</a:t>
            </a:r>
            <a:r>
              <a:rPr lang="en-US">
                <a:cs typeface="Calibri"/>
              </a:rPr>
              <a:t>  2012 </a:t>
            </a:r>
            <a:r>
              <a:rPr lang="en-US" err="1">
                <a:cs typeface="Calibri"/>
              </a:rPr>
              <a:t>perustettu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firma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jos</a:t>
            </a:r>
            <a:r>
              <a:rPr lang="en-US">
                <a:cs typeface="Calibri"/>
              </a:rPr>
              <a:t> on 35 </a:t>
            </a:r>
            <a:r>
              <a:rPr lang="en-US" err="1">
                <a:cs typeface="Calibri"/>
              </a:rPr>
              <a:t>työtekijää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tällä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hetkellä</a:t>
            </a:r>
            <a:r>
              <a:rPr lang="en-US">
                <a:cs typeface="Calibri"/>
              </a:rPr>
              <a:t> ja he </a:t>
            </a:r>
            <a:r>
              <a:rPr lang="en-US" err="1">
                <a:cs typeface="Calibri"/>
              </a:rPr>
              <a:t>hakee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vielä</a:t>
            </a:r>
            <a:r>
              <a:rPr lang="en-US">
                <a:cs typeface="Calibri"/>
              </a:rPr>
              <a:t> 3 </a:t>
            </a:r>
            <a:r>
              <a:rPr lang="en-US" err="1">
                <a:cs typeface="Calibri"/>
              </a:rPr>
              <a:t>uutta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työntekijää</a:t>
            </a:r>
            <a:r>
              <a:rPr lang="en-US">
                <a:cs typeface="Calibri"/>
              </a:rPr>
              <a:t>. </a:t>
            </a:r>
            <a:r>
              <a:rPr lang="en-US" err="1">
                <a:cs typeface="Calibri"/>
              </a:rPr>
              <a:t>Fraktion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sisällä</a:t>
            </a:r>
            <a:r>
              <a:rPr lang="en-US">
                <a:cs typeface="Calibri"/>
              </a:rPr>
              <a:t> on </a:t>
            </a:r>
            <a:r>
              <a:rPr lang="en-US" err="1">
                <a:cs typeface="Calibri"/>
              </a:rPr>
              <a:t>itsenasiassa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monia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eri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juttuja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mitä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voi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tehä</a:t>
            </a:r>
            <a:r>
              <a:rPr lang="en-US">
                <a:cs typeface="Calibri"/>
              </a:rPr>
              <a:t> et </a:t>
            </a:r>
            <a:r>
              <a:rPr lang="en-US" err="1">
                <a:cs typeface="Calibri"/>
              </a:rPr>
              <a:t>niil</a:t>
            </a:r>
            <a:r>
              <a:rPr lang="en-US">
                <a:cs typeface="Calibri"/>
              </a:rPr>
              <a:t> on </a:t>
            </a:r>
            <a:r>
              <a:rPr lang="en-US" err="1">
                <a:cs typeface="Calibri"/>
              </a:rPr>
              <a:t>designia</a:t>
            </a:r>
            <a:r>
              <a:rPr lang="en-US">
                <a:cs typeface="Calibri"/>
              </a:rPr>
              <a:t>  web ja </a:t>
            </a:r>
            <a:r>
              <a:rPr lang="en-US" err="1">
                <a:cs typeface="Calibri"/>
              </a:rPr>
              <a:t>mobiilikehitystä</a:t>
            </a:r>
            <a:r>
              <a:rPr lang="en-US">
                <a:cs typeface="Calibri"/>
              </a:rPr>
              <a:t> (</a:t>
            </a:r>
            <a:r>
              <a:rPr lang="en-US" err="1">
                <a:cs typeface="Calibri"/>
              </a:rPr>
              <a:t>mobiilissa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käytetään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lähtökohtasesti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reactia</a:t>
            </a:r>
            <a:r>
              <a:rPr lang="en-US">
                <a:cs typeface="Calibri"/>
              </a:rPr>
              <a:t>) sit on </a:t>
            </a:r>
            <a:r>
              <a:rPr lang="en-US" err="1">
                <a:cs typeface="Calibri"/>
              </a:rPr>
              <a:t>devops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joka</a:t>
            </a:r>
            <a:r>
              <a:rPr lang="en-US">
                <a:cs typeface="Calibri"/>
              </a:rPr>
              <a:t> on </a:t>
            </a:r>
            <a:r>
              <a:rPr lang="en-US" err="1">
                <a:cs typeface="Calibri"/>
              </a:rPr>
              <a:t>pilvi</a:t>
            </a:r>
            <a:r>
              <a:rPr lang="en-US">
                <a:cs typeface="Calibri"/>
              </a:rPr>
              <a:t> ja </a:t>
            </a:r>
            <a:r>
              <a:rPr lang="en-US" err="1">
                <a:cs typeface="Calibri"/>
              </a:rPr>
              <a:t>tuki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asioihin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liittyvii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palveluita</a:t>
            </a:r>
            <a:r>
              <a:rPr lang="en-US">
                <a:cs typeface="Calibri"/>
              </a:rPr>
              <a:t>,  </a:t>
            </a:r>
            <a:r>
              <a:rPr lang="en-US" err="1">
                <a:cs typeface="Calibri"/>
              </a:rPr>
              <a:t>nii</a:t>
            </a:r>
            <a:r>
              <a:rPr lang="en-US">
                <a:cs typeface="Calibri"/>
              </a:rPr>
              <a:t> ja sit Ne </a:t>
            </a:r>
            <a:r>
              <a:rPr lang="en-US" err="1">
                <a:cs typeface="Calibri"/>
              </a:rPr>
              <a:t>uudet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työntekijät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joita</a:t>
            </a:r>
            <a:r>
              <a:rPr lang="en-US">
                <a:cs typeface="Calibri"/>
              </a:rPr>
              <a:t>  </a:t>
            </a:r>
            <a:r>
              <a:rPr lang="en-US" err="1">
                <a:cs typeface="Calibri"/>
              </a:rPr>
              <a:t>hakee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ohjelmoijaa</a:t>
            </a:r>
            <a:r>
              <a:rPr lang="en-US">
                <a:cs typeface="Calibri"/>
              </a:rPr>
              <a:t>, DevOps-</a:t>
            </a:r>
            <a:r>
              <a:rPr lang="en-US" err="1">
                <a:cs typeface="Calibri"/>
              </a:rPr>
              <a:t>osaajaa</a:t>
            </a:r>
            <a:r>
              <a:rPr lang="en-US">
                <a:cs typeface="Calibri"/>
              </a:rPr>
              <a:t> ja UX </a:t>
            </a:r>
            <a:r>
              <a:rPr lang="en-US" err="1">
                <a:cs typeface="Calibri"/>
              </a:rPr>
              <a:t>suunnittelijaa</a:t>
            </a:r>
            <a:r>
              <a:rPr lang="en-US">
                <a:cs typeface="Calibri"/>
              </a:rPr>
              <a:t>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F67BB-BFF1-43DB-968B-0EF59C8CAC4A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Telia: </a:t>
            </a:r>
            <a:r>
              <a:rPr lang="en-US" err="1">
                <a:cs typeface="Calibri"/>
              </a:rPr>
              <a:t>tekivät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nettisivut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täysin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uusiksi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tän</a:t>
            </a:r>
            <a:r>
              <a:rPr lang="en-US">
                <a:cs typeface="Calibri"/>
              </a:rPr>
              <a:t> telia esports </a:t>
            </a:r>
            <a:r>
              <a:rPr lang="en-US" err="1">
                <a:cs typeface="Calibri"/>
              </a:rPr>
              <a:t>brändin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mukasesti</a:t>
            </a:r>
            <a:r>
              <a:rPr lang="en-US">
                <a:cs typeface="Calibri"/>
              </a:rPr>
              <a:t> ja </a:t>
            </a:r>
            <a:r>
              <a:rPr lang="en-US" err="1">
                <a:cs typeface="Calibri"/>
              </a:rPr>
              <a:t>pohjana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näille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sivuille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oli</a:t>
            </a:r>
            <a:r>
              <a:rPr lang="en-US">
                <a:cs typeface="Calibri"/>
              </a:rPr>
              <a:t> Assembly community </a:t>
            </a:r>
            <a:r>
              <a:rPr lang="en-US" err="1">
                <a:cs typeface="Calibri"/>
              </a:rPr>
              <a:t>sivusto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jonka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fraktio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oli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itsenasiassa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myös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tehnyt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vuonna</a:t>
            </a:r>
            <a:r>
              <a:rPr lang="en-US">
                <a:cs typeface="Calibri"/>
              </a:rPr>
              <a:t> 2018 </a:t>
            </a:r>
          </a:p>
          <a:p>
            <a:endParaRPr lang="en-US">
              <a:cs typeface="Calibri"/>
            </a:endParaRPr>
          </a:p>
          <a:p>
            <a:r>
              <a:rPr lang="en-US" err="1">
                <a:cs typeface="Calibri"/>
              </a:rPr>
              <a:t>Verkkis</a:t>
            </a:r>
            <a:r>
              <a:rPr lang="en-US">
                <a:cs typeface="Calibri"/>
              </a:rPr>
              <a:t>: </a:t>
            </a:r>
            <a:r>
              <a:rPr lang="en-US" err="1">
                <a:cs typeface="Calibri"/>
              </a:rPr>
              <a:t>verkkokauppaa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fraktio</a:t>
            </a:r>
            <a:r>
              <a:rPr lang="en-US">
                <a:cs typeface="Calibri"/>
              </a:rPr>
              <a:t> on </a:t>
            </a:r>
            <a:r>
              <a:rPr lang="en-US" err="1">
                <a:cs typeface="Calibri"/>
              </a:rPr>
              <a:t>kans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jeesiny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parissaki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eri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tilanteessa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joista</a:t>
            </a:r>
            <a:r>
              <a:rPr lang="en-US">
                <a:cs typeface="Calibri"/>
              </a:rPr>
              <a:t> eka </a:t>
            </a:r>
            <a:r>
              <a:rPr lang="en-US" err="1">
                <a:cs typeface="Calibri"/>
              </a:rPr>
              <a:t>oli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puhtaasti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mobiileile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optimoitu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verkkokauppa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tehty</a:t>
            </a:r>
            <a:r>
              <a:rPr lang="en-US">
                <a:cs typeface="Calibri"/>
              </a:rPr>
              <a:t> ja </a:t>
            </a:r>
            <a:r>
              <a:rPr lang="en-US" err="1">
                <a:cs typeface="Calibri"/>
              </a:rPr>
              <a:t>tää</a:t>
            </a:r>
            <a:r>
              <a:rPr lang="en-US">
                <a:cs typeface="Calibri"/>
              </a:rPr>
              <a:t> sit </a:t>
            </a:r>
            <a:r>
              <a:rPr lang="en-US" err="1">
                <a:cs typeface="Calibri"/>
              </a:rPr>
              <a:t>otettiin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myöhemmin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käyttöön</a:t>
            </a:r>
            <a:r>
              <a:rPr lang="en-US">
                <a:cs typeface="Calibri"/>
              </a:rPr>
              <a:t> ja </a:t>
            </a:r>
            <a:r>
              <a:rPr lang="en-US" err="1">
                <a:cs typeface="Calibri"/>
              </a:rPr>
              <a:t>taitaa</a:t>
            </a:r>
            <a:r>
              <a:rPr lang="en-US">
                <a:cs typeface="Calibri"/>
              </a:rPr>
              <a:t> olla </a:t>
            </a:r>
            <a:r>
              <a:rPr lang="en-US" err="1">
                <a:cs typeface="Calibri"/>
              </a:rPr>
              <a:t>edelleen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käytössä</a:t>
            </a:r>
            <a:r>
              <a:rPr lang="en-US">
                <a:cs typeface="Calibri"/>
              </a:rPr>
              <a:t>, ja </a:t>
            </a:r>
            <a:r>
              <a:rPr lang="en-US" err="1">
                <a:cs typeface="Calibri"/>
              </a:rPr>
              <a:t>toinen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oli</a:t>
            </a:r>
            <a:r>
              <a:rPr lang="en-US">
                <a:cs typeface="Calibri"/>
              </a:rPr>
              <a:t> se </a:t>
            </a:r>
            <a:r>
              <a:rPr lang="en-US" err="1">
                <a:cs typeface="Calibri"/>
              </a:rPr>
              <a:t>kun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autto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verkkokauppaa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palvelun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skaalautumisen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kanssa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ku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verkkokauppa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halus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varmistaa</a:t>
            </a:r>
            <a:r>
              <a:rPr lang="en-US">
                <a:cs typeface="Calibri"/>
              </a:rPr>
              <a:t> et </a:t>
            </a:r>
            <a:r>
              <a:rPr lang="en-US" err="1">
                <a:cs typeface="Calibri"/>
              </a:rPr>
              <a:t>niiden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palvelimet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ei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kaadu</a:t>
            </a:r>
            <a:r>
              <a:rPr lang="en-US">
                <a:cs typeface="Calibri"/>
              </a:rPr>
              <a:t> just </a:t>
            </a:r>
            <a:r>
              <a:rPr lang="en-US" err="1">
                <a:cs typeface="Calibri"/>
              </a:rPr>
              <a:t>isojen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käviä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määrien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kans</a:t>
            </a:r>
            <a:r>
              <a:rPr lang="en-US">
                <a:cs typeface="Calibri"/>
              </a:rPr>
              <a:t>  </a:t>
            </a:r>
            <a:r>
              <a:rPr lang="en-US" err="1">
                <a:cs typeface="Calibri"/>
              </a:rPr>
              <a:t>kuten</a:t>
            </a:r>
            <a:r>
              <a:rPr lang="en-US">
                <a:cs typeface="Calibri"/>
              </a:rPr>
              <a:t> black </a:t>
            </a:r>
            <a:r>
              <a:rPr lang="en-US" err="1">
                <a:cs typeface="Calibri"/>
              </a:rPr>
              <a:t>friday</a:t>
            </a:r>
            <a:r>
              <a:rPr lang="en-US">
                <a:cs typeface="Calibri"/>
              </a:rPr>
              <a:t> tai singles day</a:t>
            </a:r>
          </a:p>
          <a:p>
            <a:endParaRPr lang="en-US">
              <a:cs typeface="Calibri"/>
            </a:endParaRPr>
          </a:p>
          <a:p>
            <a:r>
              <a:rPr lang="en-US" err="1">
                <a:cs typeface="Calibri"/>
              </a:rPr>
              <a:t>Mehiläinen</a:t>
            </a:r>
            <a:r>
              <a:rPr lang="en-US">
                <a:cs typeface="Calibri"/>
              </a:rPr>
              <a:t>: </a:t>
            </a:r>
            <a:r>
              <a:rPr lang="en-US" err="1">
                <a:cs typeface="Calibri"/>
              </a:rPr>
              <a:t>teki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omaMehiläinen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verkkopalvelun</a:t>
            </a:r>
            <a:r>
              <a:rPr lang="en-US">
                <a:cs typeface="Calibri"/>
              </a:rPr>
              <a:t> ja </a:t>
            </a:r>
            <a:r>
              <a:rPr lang="en-US" err="1">
                <a:cs typeface="Calibri"/>
              </a:rPr>
              <a:t>tää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tehtiin</a:t>
            </a:r>
            <a:r>
              <a:rPr lang="en-US">
                <a:cs typeface="Calibri"/>
              </a:rPr>
              <a:t> react ja typescript </a:t>
            </a:r>
            <a:r>
              <a:rPr lang="en-US" err="1">
                <a:cs typeface="Calibri"/>
              </a:rPr>
              <a:t>pohjasesti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edellisen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ratkasun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tilalle</a:t>
            </a: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F67BB-BFF1-43DB-968B-0EF59C8CAC4A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0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2244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87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2577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683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343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387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361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707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998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120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645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ABAE3-D89C-4001-9AEC-5083F82B749C}" type="datetimeFigureOut">
              <a:rPr lang="fi-FI" smtClean="0"/>
              <a:t>22.11.2020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3452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om.fi/" TargetMode="External"/><Relationship Id="rId7" Type="http://schemas.openxmlformats.org/officeDocument/2006/relationships/hyperlink" Target="https://www.verkkokauppa.com/" TargetMode="External"/><Relationship Id="rId2" Type="http://schemas.openxmlformats.org/officeDocument/2006/relationships/hyperlink" Target="https://www.awiarsolutions.com/#home?v=index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raktio.fi/" TargetMode="External"/><Relationship Id="rId5" Type="http://schemas.openxmlformats.org/officeDocument/2006/relationships/hyperlink" Target="https://www.weople.hr/" TargetMode="External"/><Relationship Id="rId4" Type="http://schemas.openxmlformats.org/officeDocument/2006/relationships/hyperlink" Target="https://www.brella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 descr="Työtila ja polkupyörä tiiliseinää vasten">
            <a:extLst>
              <a:ext uri="{FF2B5EF4-FFF2-40B4-BE49-F238E27FC236}">
                <a16:creationId xmlns:a16="http://schemas.microsoft.com/office/drawing/2014/main" id="{561BF20B-BF98-41D9-AC9A-1E62F2952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58684"/>
          </a:xfrm>
          <a:prstGeom prst="rect">
            <a:avLst/>
          </a:prstGeom>
        </p:spPr>
      </p:pic>
      <p:sp>
        <p:nvSpPr>
          <p:cNvPr id="7" name="Suorakulmio 6">
            <a:extLst>
              <a:ext uri="{FF2B5EF4-FFF2-40B4-BE49-F238E27FC236}">
                <a16:creationId xmlns:a16="http://schemas.microsoft.com/office/drawing/2014/main" id="{D0780F8F-4202-4C3F-89FA-9AFB3B732C52}"/>
              </a:ext>
            </a:extLst>
          </p:cNvPr>
          <p:cNvSpPr/>
          <p:nvPr/>
        </p:nvSpPr>
        <p:spPr>
          <a:xfrm>
            <a:off x="6761946" y="0"/>
            <a:ext cx="5430054" cy="7461114"/>
          </a:xfrm>
          <a:prstGeom prst="rect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772DC1-57F2-436F-A076-D9ECE4A6FC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073030" y="106503"/>
            <a:ext cx="4908438" cy="6456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WEB-SOVELLUSKEHITYKSEN</a:t>
            </a:r>
            <a:r>
              <a:rPr kumimoji="0" lang="fi-FI" altLang="fi-FI" sz="4000" b="1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altLang="fi-FI" sz="4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</a:t>
            </a:r>
            <a: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DIGITAALISEN </a:t>
            </a:r>
            <a:b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MEDIAN </a:t>
            </a:r>
            <a:b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ALAN </a:t>
            </a:r>
            <a:b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fi-FI" altLang="fi-FI" sz="400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YRITYKSIÄ</a:t>
            </a:r>
            <a:endParaRPr kumimoji="0" lang="fi-FI" altLang="fi-FI" sz="400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21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 descr="Liikemies, joka osoittaa digitaalista tablettia kokouksessa">
            <a:extLst>
              <a:ext uri="{FF2B5EF4-FFF2-40B4-BE49-F238E27FC236}">
                <a16:creationId xmlns:a16="http://schemas.microsoft.com/office/drawing/2014/main" id="{93165B45-F4F0-49AD-A121-8CCDCDF65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orakulmio 1">
            <a:extLst>
              <a:ext uri="{FF2B5EF4-FFF2-40B4-BE49-F238E27FC236}">
                <a16:creationId xmlns:a16="http://schemas.microsoft.com/office/drawing/2014/main" id="{2C58D152-A6C3-494C-ACF0-EC455B1E3788}"/>
              </a:ext>
            </a:extLst>
          </p:cNvPr>
          <p:cNvSpPr/>
          <p:nvPr/>
        </p:nvSpPr>
        <p:spPr>
          <a:xfrm>
            <a:off x="7445079" y="-9612"/>
            <a:ext cx="3686783" cy="685800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8" name="Kuva 7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E766CBB6-C055-47E4-B9F6-919A43E4F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589" y="1020964"/>
            <a:ext cx="3107761" cy="1326068"/>
          </a:xfrm>
          <a:prstGeom prst="rect">
            <a:avLst/>
          </a:prstGeom>
        </p:spPr>
      </p:pic>
      <p:pic>
        <p:nvPicPr>
          <p:cNvPr id="4" name="Kuva 3">
            <a:extLst>
              <a:ext uri="{FF2B5EF4-FFF2-40B4-BE49-F238E27FC236}">
                <a16:creationId xmlns:a16="http://schemas.microsoft.com/office/drawing/2014/main" id="{E376F69C-4C22-42D0-9DE8-4E4FBE3C2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533" y="4696552"/>
            <a:ext cx="2629711" cy="1753139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EF564074-58B1-4ADC-9008-57DBC5812087}"/>
              </a:ext>
            </a:extLst>
          </p:cNvPr>
          <p:cNvSpPr txBox="1"/>
          <p:nvPr/>
        </p:nvSpPr>
        <p:spPr>
          <a:xfrm>
            <a:off x="8301723" y="2773116"/>
            <a:ext cx="6093911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50000"/>
              </a:lnSpc>
            </a:pPr>
            <a:r>
              <a:rPr lang="fi" sz="2000">
                <a:solidFill>
                  <a:schemeClr val="tx1">
                    <a:lumMod val="95000"/>
                    <a:lumOff val="5000"/>
                  </a:schemeClr>
                </a:solidFill>
              </a:rPr>
              <a:t>Web-suunnittelu </a:t>
            </a:r>
            <a:endParaRPr lang="fi" sz="200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fi" sz="2000">
                <a:solidFill>
                  <a:schemeClr val="tx1">
                    <a:lumMod val="95000"/>
                    <a:lumOff val="5000"/>
                  </a:schemeClr>
                </a:solidFill>
              </a:rPr>
              <a:t>Web-kehitys </a:t>
            </a:r>
            <a:endParaRPr lang="fi" sz="200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fi" sz="2000">
                <a:solidFill>
                  <a:schemeClr val="tx1">
                    <a:lumMod val="95000"/>
                    <a:lumOff val="5000"/>
                  </a:schemeClr>
                </a:solidFill>
              </a:rPr>
              <a:t>Ulkoistaminen </a:t>
            </a:r>
            <a:endParaRPr lang="fi" sz="200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ct val="250000"/>
              </a:lnSpc>
            </a:pPr>
            <a:r>
              <a:rPr lang="fi" sz="2000">
                <a:solidFill>
                  <a:schemeClr val="tx1">
                    <a:lumMod val="95000"/>
                    <a:lumOff val="5000"/>
                  </a:schemeClr>
                </a:solidFill>
              </a:rPr>
              <a:t>Konsultointi </a:t>
            </a:r>
            <a:endParaRPr lang="en-GB" sz="200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endParaRPr lang="en-GB" sz="2000">
              <a:cs typeface="Calibri"/>
            </a:endParaRPr>
          </a:p>
        </p:txBody>
      </p:sp>
      <p:pic>
        <p:nvPicPr>
          <p:cNvPr id="12" name="Kuva 11">
            <a:extLst>
              <a:ext uri="{FF2B5EF4-FFF2-40B4-BE49-F238E27FC236}">
                <a16:creationId xmlns:a16="http://schemas.microsoft.com/office/drawing/2014/main" id="{B0DE53CD-1674-489B-8868-10AC1FBFB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987" y="2725085"/>
            <a:ext cx="1828804" cy="1219202"/>
          </a:xfrm>
          <a:prstGeom prst="rect">
            <a:avLst/>
          </a:prstGeom>
        </p:spPr>
      </p:pic>
      <p:pic>
        <p:nvPicPr>
          <p:cNvPr id="14" name="Kuva 13">
            <a:extLst>
              <a:ext uri="{FF2B5EF4-FFF2-40B4-BE49-F238E27FC236}">
                <a16:creationId xmlns:a16="http://schemas.microsoft.com/office/drawing/2014/main" id="{A4A6AC11-F825-4066-AEBC-E52A11417F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987" y="3467738"/>
            <a:ext cx="1828804" cy="1219202"/>
          </a:xfrm>
          <a:prstGeom prst="rect">
            <a:avLst/>
          </a:prstGeom>
        </p:spPr>
      </p:pic>
      <p:pic>
        <p:nvPicPr>
          <p:cNvPr id="16" name="Kuva 15">
            <a:extLst>
              <a:ext uri="{FF2B5EF4-FFF2-40B4-BE49-F238E27FC236}">
                <a16:creationId xmlns:a16="http://schemas.microsoft.com/office/drawing/2014/main" id="{66684023-FC63-4282-B6C5-45E8A8DEF3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987" y="4254859"/>
            <a:ext cx="1828804" cy="12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02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 descr="Kuva, joka sisältää kohteen rakennus, ulko, tiili, katu&#10;&#10;Kuvaus luotu automaattisesti">
            <a:extLst>
              <a:ext uri="{FF2B5EF4-FFF2-40B4-BE49-F238E27FC236}">
                <a16:creationId xmlns:a16="http://schemas.microsoft.com/office/drawing/2014/main" id="{75F18555-D11E-4360-95C3-2BC73ACF8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822" y="0"/>
            <a:ext cx="12269821" cy="6871796"/>
          </a:xfrm>
          <a:prstGeom prst="rect">
            <a:avLst/>
          </a:prstGeom>
        </p:spPr>
      </p:pic>
      <p:sp>
        <p:nvSpPr>
          <p:cNvPr id="2" name="Suorakulmio 1">
            <a:extLst>
              <a:ext uri="{FF2B5EF4-FFF2-40B4-BE49-F238E27FC236}">
                <a16:creationId xmlns:a16="http://schemas.microsoft.com/office/drawing/2014/main" id="{392ED3B1-9E16-41B3-9979-F8908CDF75BC}"/>
              </a:ext>
            </a:extLst>
          </p:cNvPr>
          <p:cNvSpPr/>
          <p:nvPr/>
        </p:nvSpPr>
        <p:spPr>
          <a:xfrm>
            <a:off x="958826" y="0"/>
            <a:ext cx="3044758" cy="687179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7B6F3E90-B735-4161-BD40-BCEE67A2CB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413" y="517487"/>
            <a:ext cx="2589584" cy="258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3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F8E0F3"/>
            </a:gs>
            <a:gs pos="25000">
              <a:srgbClr val="F5F5F5"/>
            </a:gs>
            <a:gs pos="1000">
              <a:srgbClr val="F6DAF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113EFAD7-C8EE-4A67-B64C-A4A152E75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551" y="553485"/>
            <a:ext cx="4439038" cy="789819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F512854C-34A8-4068-B0FD-F125A104D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75" y="2628900"/>
            <a:ext cx="10801350" cy="4229100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64F1FCBB-39E2-408A-A5F8-DF8EBD8F2E99}"/>
              </a:ext>
            </a:extLst>
          </p:cNvPr>
          <p:cNvSpPr txBox="1"/>
          <p:nvPr/>
        </p:nvSpPr>
        <p:spPr>
          <a:xfrm>
            <a:off x="875752" y="2052262"/>
            <a:ext cx="3210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/>
              <a:t>Aloita verkostoituminen ennen tapahtumaa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43EE722A-E69A-4D28-9994-34C364711F7A}"/>
              </a:ext>
            </a:extLst>
          </p:cNvPr>
          <p:cNvSpPr txBox="1"/>
          <p:nvPr/>
        </p:nvSpPr>
        <p:spPr>
          <a:xfrm>
            <a:off x="4796503" y="2035109"/>
            <a:ext cx="2598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/>
              <a:t>Löydä arvokkaimmat osallistujat sekunneissa</a:t>
            </a: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0CC66792-73FF-49B6-99A8-65AB86EAEDC6}"/>
              </a:ext>
            </a:extLst>
          </p:cNvPr>
          <p:cNvSpPr txBox="1"/>
          <p:nvPr/>
        </p:nvSpPr>
        <p:spPr>
          <a:xfrm>
            <a:off x="8561358" y="2190761"/>
            <a:ext cx="1781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/>
              <a:t>Varaa tapaamisia</a:t>
            </a:r>
          </a:p>
        </p:txBody>
      </p:sp>
    </p:spTree>
    <p:extLst>
      <p:ext uri="{BB962C8B-B14F-4D97-AF65-F5344CB8AC3E}">
        <p14:creationId xmlns:p14="http://schemas.microsoft.com/office/powerpoint/2010/main" val="273572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2" descr="Enegia Group - Crunchbase Company Profile &amp; Funding">
            <a:extLst>
              <a:ext uri="{FF2B5EF4-FFF2-40B4-BE49-F238E27FC236}">
                <a16:creationId xmlns:a16="http://schemas.microsoft.com/office/drawing/2014/main" id="{0707DD3D-E3BA-4DC3-A55B-663E2E5F3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" r="-1" b="3458"/>
          <a:stretch/>
        </p:blipFill>
        <p:spPr bwMode="auto">
          <a:xfrm>
            <a:off x="6852177" y="388836"/>
            <a:ext cx="3005604" cy="27287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uva 6" descr="Kuva, joka sisältää kohteen objekti, merkki, kello, etu&#10;&#10;Kuvaus luotu automaattisesti">
            <a:extLst>
              <a:ext uri="{FF2B5EF4-FFF2-40B4-BE49-F238E27FC236}">
                <a16:creationId xmlns:a16="http://schemas.microsoft.com/office/drawing/2014/main" id="{FB87B4E8-7130-4079-81F7-25E07E837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579" y="2844800"/>
            <a:ext cx="3860800" cy="584200"/>
          </a:xfrm>
          <a:prstGeom prst="rect">
            <a:avLst/>
          </a:prstGeom>
        </p:spPr>
      </p:pic>
      <p:pic>
        <p:nvPicPr>
          <p:cNvPr id="9" name="Kuva 8" descr="Kuva, joka sisältää kohteen merkki, lautanen, piirtäminen, kevyt&#10;&#10;Kuvaus luotu automaattisesti">
            <a:extLst>
              <a:ext uri="{FF2B5EF4-FFF2-40B4-BE49-F238E27FC236}">
                <a16:creationId xmlns:a16="http://schemas.microsoft.com/office/drawing/2014/main" id="{2D0C83C9-761D-42B8-AAA4-BD16AB87FB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579" y="3738934"/>
            <a:ext cx="3860800" cy="1625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F58CF5-79A5-48EC-A10A-91F195A9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Meomin asiakasprojekteja</a:t>
            </a:r>
          </a:p>
        </p:txBody>
      </p:sp>
    </p:spTree>
    <p:extLst>
      <p:ext uri="{BB962C8B-B14F-4D97-AF65-F5344CB8AC3E}">
        <p14:creationId xmlns:p14="http://schemas.microsoft.com/office/powerpoint/2010/main" val="3253881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uva 7">
            <a:extLst>
              <a:ext uri="{FF2B5EF4-FFF2-40B4-BE49-F238E27FC236}">
                <a16:creationId xmlns:a16="http://schemas.microsoft.com/office/drawing/2014/main" id="{D8C69961-B5B2-49DE-9364-573974339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" y="14287"/>
            <a:ext cx="12163425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9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E79FE407-41BB-4E6A-A5EF-BA5AC296F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469900"/>
            <a:ext cx="3378200" cy="1866900"/>
          </a:xfrm>
          <a:prstGeom prst="rect">
            <a:avLst/>
          </a:prstGeom>
        </p:spPr>
      </p:pic>
      <p:pic>
        <p:nvPicPr>
          <p:cNvPr id="4" name="Picture 4" descr="Logo&#10;&#10;Description automatically generated">
            <a:extLst>
              <a:ext uri="{FF2B5EF4-FFF2-40B4-BE49-F238E27FC236}">
                <a16:creationId xmlns:a16="http://schemas.microsoft.com/office/drawing/2014/main" id="{C39CC63D-27CB-4EC0-BDF7-1A3905FAA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400300"/>
            <a:ext cx="3378200" cy="2222500"/>
          </a:xfrm>
          <a:prstGeom prst="rect">
            <a:avLst/>
          </a:prstGeom>
        </p:spPr>
      </p:pic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FCBB9FF2-D613-4B44-9E80-7BD396A89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4699000"/>
            <a:ext cx="3378200" cy="1638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F58CF5-79A5-48EC-A10A-91F195A9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Fraktion</a:t>
            </a: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asiakasprojekteja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2864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tsikko 3">
            <a:extLst>
              <a:ext uri="{FF2B5EF4-FFF2-40B4-BE49-F238E27FC236}">
                <a16:creationId xmlns:a16="http://schemas.microsoft.com/office/drawing/2014/main" id="{9E97B5B7-C30F-49A0-8530-CE38BFF5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500062"/>
            <a:ext cx="10515600" cy="1325563"/>
          </a:xfrm>
        </p:spPr>
        <p:txBody>
          <a:bodyPr/>
          <a:lstStyle/>
          <a:p>
            <a:r>
              <a:rPr lang="fi-FI">
                <a:solidFill>
                  <a:schemeClr val="tx1">
                    <a:lumMod val="75000"/>
                    <a:lumOff val="25000"/>
                  </a:schemeClr>
                </a:solidFill>
              </a:rPr>
              <a:t>Lähteet</a:t>
            </a:r>
          </a:p>
        </p:txBody>
      </p:sp>
      <p:sp>
        <p:nvSpPr>
          <p:cNvPr id="5" name="Sisällön paikkamerkki 4">
            <a:extLst>
              <a:ext uri="{FF2B5EF4-FFF2-40B4-BE49-F238E27FC236}">
                <a16:creationId xmlns:a16="http://schemas.microsoft.com/office/drawing/2014/main" id="{7291AC3C-F38B-434F-BFD3-B69122060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3376" y="1822450"/>
            <a:ext cx="5181600" cy="4351338"/>
          </a:xfrm>
        </p:spPr>
        <p:txBody>
          <a:bodyPr/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i-FI" sz="28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https://www.awiarsolutions.com/</a:t>
            </a:r>
            <a:r>
              <a:rPr lang="fi-FI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i-FI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i-FI" sz="28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https://www.meom.fi/</a:t>
            </a:r>
            <a:endParaRPr lang="fi-FI" sz="2800" u="sng">
              <a:solidFill>
                <a:srgbClr val="0563C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i-FI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https://www.brella.io/</a:t>
            </a:r>
            <a:endParaRPr lang="fi-FI" sz="2800" u="sng">
              <a:solidFill>
                <a:srgbClr val="0563C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i-FI" sz="2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https://www.weople.hr/</a:t>
            </a:r>
            <a:endParaRPr lang="fi-FI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endParaRPr lang="fi-FI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i-FI"/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9E62DB69-4126-4615-BE62-7C9057A40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428" y="1825625"/>
            <a:ext cx="5181600" cy="4351338"/>
          </a:xfrm>
        </p:spPr>
        <p:txBody>
          <a:bodyPr/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i-FI" sz="2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https://www.weople.hr/</a:t>
            </a:r>
            <a:endParaRPr lang="fi-FI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i-FI" sz="2800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https://www.fraktio.fi/</a:t>
            </a:r>
            <a:endParaRPr lang="fi-FI" sz="2800" u="sng">
              <a:solidFill>
                <a:srgbClr val="0563C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i-FI" u="sng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https://www.verkkokauppa.com</a:t>
            </a:r>
            <a:endParaRPr lang="fi-FI" u="sng">
              <a:solidFill>
                <a:srgbClr val="0563C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8206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C30EC5B6123E42A0B8FA1748FA470F" ma:contentTypeVersion="2" ma:contentTypeDescription="Create a new document." ma:contentTypeScope="" ma:versionID="d5b1749538aef403fe238452600d3bb4">
  <xsd:schema xmlns:xsd="http://www.w3.org/2001/XMLSchema" xmlns:xs="http://www.w3.org/2001/XMLSchema" xmlns:p="http://schemas.microsoft.com/office/2006/metadata/properties" xmlns:ns2="f5b6d430-ec1a-4907-bfb0-75f44b9af386" targetNamespace="http://schemas.microsoft.com/office/2006/metadata/properties" ma:root="true" ma:fieldsID="c4d8825f9eb15285f7a91b36dea63885" ns2:_="">
    <xsd:import namespace="f5b6d430-ec1a-4907-bfb0-75f44b9af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b6d430-ec1a-4907-bfb0-75f44b9af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7B51B3-CFE1-460F-841B-DD44C897D5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399674-8B29-453E-9316-4AF5C454C81E}">
  <ds:schemaRefs>
    <ds:schemaRef ds:uri="f5b6d430-ec1a-4907-bfb0-75f44b9af38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0BF5BB7-A87C-409A-87F6-06E441706EE0}">
  <ds:schemaRefs>
    <ds:schemaRef ds:uri="f5b6d430-ec1a-4907-bfb0-75f44b9af3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Office-teema</vt:lpstr>
      <vt:lpstr>WEB-SOVELLUSKEHITYKSEN JA  DIGITAALISEN  MEDIAN  ALAN  YRITYKSIÄ</vt:lpstr>
      <vt:lpstr>PowerPoint Presentation</vt:lpstr>
      <vt:lpstr>PowerPoint Presentation</vt:lpstr>
      <vt:lpstr>PowerPoint Presentation</vt:lpstr>
      <vt:lpstr>Meomin asiakasprojekteja</vt:lpstr>
      <vt:lpstr>PowerPoint Presentation</vt:lpstr>
      <vt:lpstr>Fraktion asiakasprojekteja</vt:lpstr>
      <vt:lpstr>Lähteet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WEB-SOVELLUSKEHITYKSEN JA  DIGITAALISEN  MEDIAN  ALAN  YRITYKSIÄ</dc:title>
  <dc:creator>Anni Saarinen</dc:creator>
  <cp:revision>2</cp:revision>
  <dcterms:created xsi:type="dcterms:W3CDTF">2020-11-22T15:42:55Z</dcterms:created>
  <dcterms:modified xsi:type="dcterms:W3CDTF">2020-11-23T06:40:47Z</dcterms:modified>
</cp:coreProperties>
</file>